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" y="219456"/>
            <a:ext cx="155448" cy="457200"/>
          </a:xfrm>
          <a:prstGeom prst="rect">
            <a:avLst/>
          </a:prstGeom>
          <a:solidFill>
            <a:srgbClr val="36563F"/>
          </a:solidFill>
          <a:ln w="12700">
            <a:solidFill>
              <a:srgbClr val="3656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73736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41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8912" y="713232"/>
            <a:ext cx="8476488" cy="0"/>
          </a:xfrm>
          <a:prstGeom prst="line">
            <a:avLst/>
          </a:prstGeom>
          <a:noFill/>
          <a:ln w="10160">
            <a:solidFill>
              <a:srgbClr val="5775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201168"/>
            <a:ext cx="777240" cy="0"/>
          </a:xfrm>
          <a:prstGeom prst="line">
            <a:avLst/>
          </a:prstGeom>
          <a:noFill/>
          <a:ln w="25400">
            <a:solidFill>
              <a:srgbClr val="3656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01168"/>
            <a:ext cx="502920" cy="0"/>
          </a:xfrm>
          <a:prstGeom prst="line">
            <a:avLst/>
          </a:prstGeom>
          <a:noFill/>
          <a:ln w="25400">
            <a:solidFill>
              <a:srgbClr val="365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347472"/>
            <a:ext cx="1828800" cy="0"/>
          </a:xfrm>
          <a:prstGeom prst="line">
            <a:avLst/>
          </a:prstGeom>
          <a:noFill/>
          <a:ln w="12700">
            <a:solidFill>
              <a:srgbClr val="3656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92840" y="164592"/>
            <a:ext cx="47548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896112"/>
            <a:ext cx="9692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整体界面由三类工作区组成：左侧管理数据，中间完成空间操作，右侧与智能体交互。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6510">
            <a:solidFill>
              <a:srgbClr val="3656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2331720" cy="310896"/>
          </a:xfrm>
          <a:prstGeom prst="rect">
            <a:avLst/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581912"/>
            <a:ext cx="21122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Manager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6112" y="1965960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RASTER LAYERS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6112" y="233172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69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313432"/>
            <a:ext cx="1417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Population Density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896112" y="2715768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69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2697480"/>
            <a:ext cx="1417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LCLU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896112" y="309981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69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081528"/>
            <a:ext cx="1417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Soil Texture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96112" y="348386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69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3465576"/>
            <a:ext cx="1417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Healthcare Access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896112" y="3867912"/>
            <a:ext cx="137160" cy="137160"/>
          </a:xfrm>
          <a:prstGeom prst="rect">
            <a:avLst/>
          </a:prstGeom>
          <a:solidFill>
            <a:srgbClr val="EEEEEE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3849624"/>
            <a:ext cx="1417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Optical Imagery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896112" y="4251960"/>
            <a:ext cx="137160" cy="137160"/>
          </a:xfrm>
          <a:prstGeom prst="rect">
            <a:avLst/>
          </a:prstGeom>
          <a:solidFill>
            <a:srgbClr val="EEEEEE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4233672"/>
            <a:ext cx="1417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SAR Imagery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3291840" y="150876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6510">
            <a:solidFill>
              <a:srgbClr val="4169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1508760"/>
            <a:ext cx="5120640" cy="310896"/>
          </a:xfrm>
          <a:prstGeom prst="rect">
            <a:avLst/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1581912"/>
            <a:ext cx="490118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1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Workspace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511296" y="1993392"/>
            <a:ext cx="4663440" cy="3154680"/>
          </a:xfrm>
          <a:prstGeom prst="rect">
            <a:avLst/>
          </a:prstGeom>
          <a:solidFill>
            <a:srgbClr val="E8F1E1"/>
          </a:solidFill>
          <a:ln w="5080">
            <a:solidFill>
              <a:srgbClr val="B8CB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45152" y="2514600"/>
            <a:ext cx="1737360" cy="1463040"/>
          </a:xfrm>
          <a:prstGeom prst="hexagon">
            <a:avLst/>
          </a:prstGeom>
          <a:solidFill>
            <a:srgbClr val="BFD7BA">
              <a:alpha val="85000"/>
            </a:srgbClr>
          </a:solidFill>
          <a:ln w="17780">
            <a:solidFill>
              <a:srgbClr val="4169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18120" y="1810512"/>
            <a:ext cx="22860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D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72984" y="1856232"/>
            <a:ext cx="10972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732520" y="150876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6510">
            <a:solidFill>
              <a:srgbClr val="6A55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2520" y="1508760"/>
            <a:ext cx="2331720" cy="310896"/>
          </a:xfrm>
          <a:prstGeom prst="rect">
            <a:avLst/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42248" y="1581912"/>
            <a:ext cx="21122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A5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Workspace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79408" y="1938528"/>
            <a:ext cx="1600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Flood Analysis Chat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15984" y="242316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2542032"/>
            <a:ext cx="11887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about flood event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9372600" y="30632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DCE7FB"/>
          </a:solidFill>
          <a:ln w="12700">
            <a:solidFill>
              <a:srgbClr val="DCE7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9760" y="3182112"/>
            <a:ext cx="9875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response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sources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94360" y="598932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F7FAF8"/>
          </a:solidFill>
          <a:ln w="15240">
            <a:solidFill>
              <a:srgbClr val="3656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" y="6108192"/>
            <a:ext cx="20939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Layer &amp; Data Management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291840" y="5989320"/>
            <a:ext cx="5120640" cy="384048"/>
          </a:xfrm>
          <a:prstGeom prst="roundRect">
            <a:avLst>
              <a:gd name="adj" fmla="val 19048"/>
            </a:avLst>
          </a:prstGeom>
          <a:solidFill>
            <a:srgbClr val="F7FAFF"/>
          </a:solidFill>
          <a:ln w="15240">
            <a:solidFill>
              <a:srgbClr val="4169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56432" y="6108192"/>
            <a:ext cx="47914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1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Map Workspace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732520" y="59893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8F7FF"/>
          </a:solidFill>
          <a:ln w="15240">
            <a:solidFill>
              <a:srgbClr val="6A55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97112" y="6108192"/>
            <a:ext cx="20025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A5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Agent Interaction Panel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6547104"/>
            <a:ext cx="11265408" cy="0"/>
          </a:xfrm>
          <a:prstGeom prst="line">
            <a:avLst/>
          </a:prstGeom>
          <a:noFill/>
          <a:ln w="7620">
            <a:solidFill>
              <a:srgbClr val="E2E6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83680"/>
            <a:ext cx="3840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SATGPT Pro  |  System Design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" y="219456"/>
            <a:ext cx="155448" cy="457200"/>
          </a:xfrm>
          <a:prstGeom prst="rect">
            <a:avLst/>
          </a:prstGeom>
          <a:solidFill>
            <a:srgbClr val="36563F"/>
          </a:solidFill>
          <a:ln w="12700">
            <a:solidFill>
              <a:srgbClr val="3656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73736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41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8912" y="713232"/>
            <a:ext cx="8476488" cy="0"/>
          </a:xfrm>
          <a:prstGeom prst="line">
            <a:avLst/>
          </a:prstGeom>
          <a:noFill/>
          <a:ln w="10160">
            <a:solidFill>
              <a:srgbClr val="5775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201168"/>
            <a:ext cx="777240" cy="0"/>
          </a:xfrm>
          <a:prstGeom prst="line">
            <a:avLst/>
          </a:prstGeom>
          <a:noFill/>
          <a:ln w="25400">
            <a:solidFill>
              <a:srgbClr val="3656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01168"/>
            <a:ext cx="502920" cy="0"/>
          </a:xfrm>
          <a:prstGeom prst="line">
            <a:avLst/>
          </a:prstGeom>
          <a:noFill/>
          <a:ln w="25400">
            <a:solidFill>
              <a:srgbClr val="365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347472"/>
            <a:ext cx="1828800" cy="0"/>
          </a:xfrm>
          <a:prstGeom prst="line">
            <a:avLst/>
          </a:prstGeom>
          <a:noFill/>
          <a:ln w="12700">
            <a:solidFill>
              <a:srgbClr val="3656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92840" y="164592"/>
            <a:ext cx="47548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932688"/>
            <a:ext cx="4754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Ways to Define Analysis Regions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60350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6510">
            <a:solidFill>
              <a:srgbClr val="4169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6035040" cy="310896"/>
          </a:xfrm>
          <a:prstGeom prst="rect">
            <a:avLst/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490472"/>
            <a:ext cx="581558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1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+ Region Tools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77824" y="1828800"/>
            <a:ext cx="5577840" cy="3154680"/>
          </a:xfrm>
          <a:prstGeom prst="rect">
            <a:avLst/>
          </a:prstGeom>
          <a:solidFill>
            <a:srgbClr val="E7F0DF"/>
          </a:solidFill>
          <a:ln w="6350">
            <a:solidFill>
              <a:srgbClr val="CAD8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331720"/>
            <a:ext cx="2560320" cy="1691640"/>
          </a:xfrm>
          <a:prstGeom prst="hexagon">
            <a:avLst/>
          </a:prstGeom>
          <a:solidFill>
            <a:srgbClr val="9FC5E8">
              <a:alpha val="70000"/>
            </a:srgbClr>
          </a:solidFill>
          <a:ln w="16510">
            <a:solidFill>
              <a:srgbClr val="4169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3310128"/>
            <a:ext cx="1143000" cy="731520"/>
          </a:xfrm>
          <a:prstGeom prst="parallelogram">
            <a:avLst/>
          </a:prstGeom>
          <a:solidFill>
            <a:srgbClr val="FFFFFF">
              <a:alpha val="70000"/>
            </a:srgbClr>
          </a:solidFill>
          <a:ln w="15240">
            <a:solidFill>
              <a:srgbClr val="4169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788920"/>
            <a:ext cx="1143000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D54C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971800"/>
            <a:ext cx="8046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Upload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14032" y="1481328"/>
            <a:ext cx="384048" cy="384048"/>
          </a:xfrm>
          <a:prstGeom prst="ellipse">
            <a:avLst/>
          </a:prstGeom>
          <a:solidFill>
            <a:srgbClr val="57755F"/>
          </a:solidFill>
          <a:ln w="12700">
            <a:solidFill>
              <a:srgbClr val="5775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545336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62672" y="1499616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by Location Name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62672" y="1865376"/>
            <a:ext cx="3154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Quickly find and select administrative regions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78040" y="2432304"/>
            <a:ext cx="3931920" cy="0"/>
          </a:xfrm>
          <a:prstGeom prst="line">
            <a:avLst/>
          </a:prstGeom>
          <a:noFill/>
          <a:ln w="10160">
            <a:solidFill>
              <a:srgbClr val="D7DD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14032" y="2688336"/>
            <a:ext cx="384048" cy="384048"/>
          </a:xfrm>
          <a:prstGeom prst="ellipse">
            <a:avLst/>
          </a:prstGeom>
          <a:solidFill>
            <a:srgbClr val="57755F"/>
          </a:solidFill>
          <a:ln w="12700">
            <a:solidFill>
              <a:srgbClr val="5775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2752344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62672" y="2706624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 Custom Region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62672" y="3072384"/>
            <a:ext cx="3154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Freely draw any polygon to define arbitrary areas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78040" y="3639312"/>
            <a:ext cx="3931920" cy="0"/>
          </a:xfrm>
          <a:prstGeom prst="line">
            <a:avLst/>
          </a:prstGeom>
          <a:noFill/>
          <a:ln w="10160">
            <a:solidFill>
              <a:srgbClr val="D7DD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14032" y="3895344"/>
            <a:ext cx="384048" cy="384048"/>
          </a:xfrm>
          <a:prstGeom prst="ellipse">
            <a:avLst/>
          </a:prstGeom>
          <a:solidFill>
            <a:srgbClr val="57755F"/>
          </a:solidFill>
          <a:ln w="12700">
            <a:solidFill>
              <a:srgbClr val="5775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395935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62672" y="3913632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Upload Existing Data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62672" y="4279392"/>
            <a:ext cx="3154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Upload GeoJSON or Shapefile to use your own boundaries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60320" y="5742432"/>
            <a:ext cx="4663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Flexible spatial input supports different user needs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547104"/>
            <a:ext cx="11265408" cy="0"/>
          </a:xfrm>
          <a:prstGeom prst="line">
            <a:avLst/>
          </a:prstGeom>
          <a:noFill/>
          <a:ln w="7620">
            <a:solidFill>
              <a:srgbClr val="E2E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83680"/>
            <a:ext cx="3840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SATGPT Pro  |  System Design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" y="219456"/>
            <a:ext cx="155448" cy="457200"/>
          </a:xfrm>
          <a:prstGeom prst="rect">
            <a:avLst/>
          </a:prstGeom>
          <a:solidFill>
            <a:srgbClr val="36563F"/>
          </a:solidFill>
          <a:ln w="12700">
            <a:solidFill>
              <a:srgbClr val="3656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73736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41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8912" y="713232"/>
            <a:ext cx="8476488" cy="0"/>
          </a:xfrm>
          <a:prstGeom prst="line">
            <a:avLst/>
          </a:prstGeom>
          <a:noFill/>
          <a:ln w="10160">
            <a:solidFill>
              <a:srgbClr val="5775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201168"/>
            <a:ext cx="777240" cy="0"/>
          </a:xfrm>
          <a:prstGeom prst="line">
            <a:avLst/>
          </a:prstGeom>
          <a:noFill/>
          <a:ln w="25400">
            <a:solidFill>
              <a:srgbClr val="3656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01168"/>
            <a:ext cx="502920" cy="0"/>
          </a:xfrm>
          <a:prstGeom prst="line">
            <a:avLst/>
          </a:prstGeom>
          <a:noFill/>
          <a:ln w="25400">
            <a:solidFill>
              <a:srgbClr val="365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347472"/>
            <a:ext cx="1828800" cy="0"/>
          </a:xfrm>
          <a:prstGeom prst="line">
            <a:avLst/>
          </a:prstGeom>
          <a:noFill/>
          <a:ln w="12700">
            <a:solidFill>
              <a:srgbClr val="3656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92840" y="164592"/>
            <a:ext cx="47548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896112"/>
            <a:ext cx="4389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Workflow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1225296"/>
            <a:ext cx="7498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从空间范围到智能体分析结果，系统被设计为一条连续的使用路径。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057400"/>
            <a:ext cx="1828800" cy="1298448"/>
          </a:xfrm>
          <a:prstGeom prst="roundRect">
            <a:avLst>
              <a:gd name="adj" fmla="val 5634"/>
            </a:avLst>
          </a:prstGeom>
          <a:solidFill>
            <a:srgbClr val="F8FAF8"/>
          </a:solidFill>
          <a:ln w="15240">
            <a:solidFill>
              <a:srgbClr val="3656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76272"/>
            <a:ext cx="1499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Define Region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2505456"/>
            <a:ext cx="14996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/ 绘制 / 上传边界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99032" y="1572768"/>
            <a:ext cx="384048" cy="384048"/>
          </a:xfrm>
          <a:prstGeom prst="ellipse">
            <a:avLst/>
          </a:prstGeom>
          <a:solidFill>
            <a:srgbClr val="36563F"/>
          </a:solidFill>
          <a:ln w="12700">
            <a:solidFill>
              <a:srgbClr val="3656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9032" y="1636776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2697480"/>
            <a:ext cx="301752" cy="0"/>
          </a:xfrm>
          <a:prstGeom prst="line">
            <a:avLst/>
          </a:prstGeom>
          <a:noFill/>
          <a:ln w="20320">
            <a:solidFill>
              <a:srgbClr val="D7DD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0632" y="2578608"/>
            <a:ext cx="219456" cy="237744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2057400"/>
            <a:ext cx="1828800" cy="1298448"/>
          </a:xfrm>
          <a:prstGeom prst="roundRect">
            <a:avLst>
              <a:gd name="adj" fmla="val 5634"/>
            </a:avLst>
          </a:prstGeom>
          <a:solidFill>
            <a:srgbClr val="F8FAF8"/>
          </a:solidFill>
          <a:ln w="15240">
            <a:solidFill>
              <a:srgbClr val="5775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2176272"/>
            <a:ext cx="1499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7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 Layers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90672" y="2505456"/>
            <a:ext cx="14996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选择遥感与地理数据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39312" y="1572768"/>
            <a:ext cx="384048" cy="384048"/>
          </a:xfrm>
          <a:prstGeom prst="ellipse">
            <a:avLst/>
          </a:prstGeom>
          <a:solidFill>
            <a:srgbClr val="36563F"/>
          </a:solidFill>
          <a:ln w="12700">
            <a:solidFill>
              <a:srgbClr val="3656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9312" y="1636776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697480"/>
            <a:ext cx="301752" cy="0"/>
          </a:xfrm>
          <a:prstGeom prst="line">
            <a:avLst/>
          </a:prstGeom>
          <a:noFill/>
          <a:ln w="20320">
            <a:solidFill>
              <a:srgbClr val="D7DD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10912" y="2578608"/>
            <a:ext cx="219456" cy="237744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057400"/>
            <a:ext cx="1828800" cy="1298448"/>
          </a:xfrm>
          <a:prstGeom prst="roundRect">
            <a:avLst>
              <a:gd name="adj" fmla="val 5634"/>
            </a:avLst>
          </a:prstGeom>
          <a:solidFill>
            <a:srgbClr val="F8FAF8"/>
          </a:solidFill>
          <a:ln w="15240">
            <a:solidFill>
              <a:srgbClr val="5775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0952" y="2176272"/>
            <a:ext cx="1499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7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Agent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30952" y="2505456"/>
            <a:ext cx="14996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自然语言提出任务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79592" y="1572768"/>
            <a:ext cx="384048" cy="384048"/>
          </a:xfrm>
          <a:prstGeom prst="ellipse">
            <a:avLst/>
          </a:prstGeom>
          <a:solidFill>
            <a:srgbClr val="36563F"/>
          </a:solidFill>
          <a:ln w="12700">
            <a:solidFill>
              <a:srgbClr val="3656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79592" y="1636776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0" y="2697480"/>
            <a:ext cx="301752" cy="0"/>
          </a:xfrm>
          <a:prstGeom prst="line">
            <a:avLst/>
          </a:prstGeom>
          <a:noFill/>
          <a:ln w="20320">
            <a:solidFill>
              <a:srgbClr val="D7DD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51192" y="2578608"/>
            <a:ext cx="219456" cy="237744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2057400"/>
            <a:ext cx="1828800" cy="1298448"/>
          </a:xfrm>
          <a:prstGeom prst="roundRect">
            <a:avLst>
              <a:gd name="adj" fmla="val 5634"/>
            </a:avLst>
          </a:prstGeom>
          <a:solidFill>
            <a:srgbClr val="F4F7FF"/>
          </a:solidFill>
          <a:ln w="15240">
            <a:solidFill>
              <a:srgbClr val="4169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1232" y="2176272"/>
            <a:ext cx="1499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1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Workflow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71232" y="2505456"/>
            <a:ext cx="14996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检索信息并执行分析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19872" y="1572768"/>
            <a:ext cx="384048" cy="384048"/>
          </a:xfrm>
          <a:prstGeom prst="ellipse">
            <a:avLst/>
          </a:prstGeom>
          <a:solidFill>
            <a:srgbClr val="4169D8"/>
          </a:solidFill>
          <a:ln w="12700">
            <a:solidFill>
              <a:srgbClr val="4169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9872" y="1636776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281160" y="2697480"/>
            <a:ext cx="301752" cy="0"/>
          </a:xfrm>
          <a:prstGeom prst="line">
            <a:avLst/>
          </a:prstGeom>
          <a:noFill/>
          <a:ln w="20320">
            <a:solidFill>
              <a:srgbClr val="D7DD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91472" y="2578608"/>
            <a:ext cx="219456" cy="237744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2057400"/>
            <a:ext cx="1828800" cy="1298448"/>
          </a:xfrm>
          <a:prstGeom prst="roundRect">
            <a:avLst>
              <a:gd name="adj" fmla="val 5634"/>
            </a:avLst>
          </a:prstGeom>
          <a:solidFill>
            <a:srgbClr val="F8FAF8"/>
          </a:solidFill>
          <a:ln w="15240">
            <a:solidFill>
              <a:srgbClr val="5775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11512" y="2176272"/>
            <a:ext cx="1499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7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Results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811512" y="2505456"/>
            <a:ext cx="14996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查看地图、报告与来源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360152" y="1572768"/>
            <a:ext cx="384048" cy="384048"/>
          </a:xfrm>
          <a:prstGeom prst="ellipse">
            <a:avLst/>
          </a:prstGeom>
          <a:solidFill>
            <a:srgbClr val="36563F"/>
          </a:solidFill>
          <a:ln w="12700">
            <a:solidFill>
              <a:srgbClr val="3656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60152" y="1636776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14400" y="4160520"/>
            <a:ext cx="10241280" cy="1234440"/>
          </a:xfrm>
          <a:prstGeom prst="roundRect">
            <a:avLst>
              <a:gd name="adj" fmla="val 7407"/>
            </a:avLst>
          </a:prstGeom>
          <a:solidFill>
            <a:srgbClr val="F7F7F4"/>
          </a:solidFill>
          <a:ln w="10160">
            <a:solidFill>
              <a:srgbClr val="E0E4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07008" y="437083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43200" y="4334256"/>
            <a:ext cx="7680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用户不需要先理解遥感处理细节，只需要逐步定义区域、选择数据、提出问题，系统负责把输入转化为可执行的分析流程。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6547104"/>
            <a:ext cx="11265408" cy="0"/>
          </a:xfrm>
          <a:prstGeom prst="line">
            <a:avLst/>
          </a:prstGeom>
          <a:noFill/>
          <a:ln w="7620">
            <a:solidFill>
              <a:srgbClr val="E2E6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83680"/>
            <a:ext cx="3840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SATGPT Pro  |  System Design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" y="219456"/>
            <a:ext cx="155448" cy="457200"/>
          </a:xfrm>
          <a:prstGeom prst="rect">
            <a:avLst/>
          </a:prstGeom>
          <a:solidFill>
            <a:srgbClr val="36563F"/>
          </a:solidFill>
          <a:ln w="12700">
            <a:solidFill>
              <a:srgbClr val="3656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73736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41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8912" y="713232"/>
            <a:ext cx="8476488" cy="0"/>
          </a:xfrm>
          <a:prstGeom prst="line">
            <a:avLst/>
          </a:prstGeom>
          <a:noFill/>
          <a:ln w="10160">
            <a:solidFill>
              <a:srgbClr val="5775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201168"/>
            <a:ext cx="777240" cy="0"/>
          </a:xfrm>
          <a:prstGeom prst="line">
            <a:avLst/>
          </a:prstGeom>
          <a:noFill/>
          <a:ln w="25400">
            <a:solidFill>
              <a:srgbClr val="3656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01168"/>
            <a:ext cx="502920" cy="0"/>
          </a:xfrm>
          <a:prstGeom prst="line">
            <a:avLst/>
          </a:prstGeom>
          <a:noFill/>
          <a:ln w="25400">
            <a:solidFill>
              <a:srgbClr val="365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347472"/>
            <a:ext cx="1828800" cy="0"/>
          </a:xfrm>
          <a:prstGeom prst="line">
            <a:avLst/>
          </a:prstGeom>
          <a:noFill/>
          <a:ln w="12700">
            <a:solidFill>
              <a:srgbClr val="3656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92840" y="164592"/>
            <a:ext cx="47548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896112"/>
            <a:ext cx="5120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Agent-Assisted Analysis Loop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1225296"/>
            <a:ext cx="7863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智能体负责判断用户意图，并在普通问答与空间分析流程之间进行切换。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0116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3656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130552"/>
            <a:ext cx="15910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459736"/>
            <a:ext cx="15910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用户自然语言输入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63240" y="14630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4169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1581912"/>
            <a:ext cx="15910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1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Intent Recognition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27832" y="1911096"/>
            <a:ext cx="15910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识别事件、时间、任务类型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0" y="20116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5775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2130552"/>
            <a:ext cx="15910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7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Check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50992" y="2459736"/>
            <a:ext cx="15910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检查具体事件与 @ 空间范围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37947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4169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3913632"/>
            <a:ext cx="15910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1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/ Workflow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07992" y="4242816"/>
            <a:ext cx="15910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联机搜索或启动 GEE 分析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818120" y="37947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6A55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3913632"/>
            <a:ext cx="15910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A5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&amp; Report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82712" y="4242816"/>
            <a:ext cx="15910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地图图层、报告、引用来源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34640" y="2331720"/>
            <a:ext cx="228600" cy="-411480"/>
          </a:xfrm>
          <a:prstGeom prst="line">
            <a:avLst/>
          </a:prstGeom>
          <a:noFill/>
          <a:ln w="19050">
            <a:solidFill>
              <a:srgbClr val="D7DD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1920240"/>
            <a:ext cx="502920" cy="411480"/>
          </a:xfrm>
          <a:prstGeom prst="line">
            <a:avLst/>
          </a:prstGeom>
          <a:noFill/>
          <a:ln w="19050">
            <a:solidFill>
              <a:srgbClr val="D7DD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2880360"/>
            <a:ext cx="-1188720" cy="914400"/>
          </a:xfrm>
          <a:prstGeom prst="line">
            <a:avLst/>
          </a:prstGeom>
          <a:noFill/>
          <a:ln w="19050">
            <a:solidFill>
              <a:srgbClr val="D7DD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4224528"/>
            <a:ext cx="1554480" cy="0"/>
          </a:xfrm>
          <a:prstGeom prst="line">
            <a:avLst/>
          </a:prstGeom>
          <a:noFill/>
          <a:ln w="19050">
            <a:solidFill>
              <a:srgbClr val="D7DD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3794760"/>
            <a:ext cx="-6126480" cy="-1097280"/>
          </a:xfrm>
          <a:prstGeom prst="line">
            <a:avLst/>
          </a:prstGeom>
          <a:noFill/>
          <a:ln w="19050">
            <a:solidFill>
              <a:srgbClr val="D7DD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53492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0160">
            <a:solidFill>
              <a:srgbClr val="D7E2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43000" y="5522976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F7FAF8"/>
          </a:solidFill>
          <a:ln w="10160">
            <a:solidFill>
              <a:srgbClr val="3656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16152" y="5586984"/>
            <a:ext cx="21396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普通问题：LLM + Search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86200" y="5522976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F7FAF8"/>
          </a:solidFill>
          <a:ln w="10160">
            <a:solidFill>
              <a:srgbClr val="4169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9352" y="5586984"/>
            <a:ext cx="3008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1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Workflow：具体事件 + 时间 + @空间范围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452360" y="5522976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7FAF8"/>
          </a:solidFill>
          <a:ln w="10160">
            <a:solidFill>
              <a:srgbClr val="5775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25512" y="5586984"/>
            <a:ext cx="241401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7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缺失条件：先提示用户补充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6547104"/>
            <a:ext cx="11265408" cy="0"/>
          </a:xfrm>
          <a:prstGeom prst="line">
            <a:avLst/>
          </a:prstGeom>
          <a:noFill/>
          <a:ln w="7620">
            <a:solidFill>
              <a:srgbClr val="E2E6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83680"/>
            <a:ext cx="3840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SATGPT Pro  |  System Design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" y="219456"/>
            <a:ext cx="155448" cy="457200"/>
          </a:xfrm>
          <a:prstGeom prst="rect">
            <a:avLst/>
          </a:prstGeom>
          <a:solidFill>
            <a:srgbClr val="36563F"/>
          </a:solidFill>
          <a:ln w="12700">
            <a:solidFill>
              <a:srgbClr val="3656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73736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41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8912" y="713232"/>
            <a:ext cx="8476488" cy="0"/>
          </a:xfrm>
          <a:prstGeom prst="line">
            <a:avLst/>
          </a:prstGeom>
          <a:noFill/>
          <a:ln w="10160">
            <a:solidFill>
              <a:srgbClr val="5775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201168"/>
            <a:ext cx="777240" cy="0"/>
          </a:xfrm>
          <a:prstGeom prst="line">
            <a:avLst/>
          </a:prstGeom>
          <a:noFill/>
          <a:ln w="25400">
            <a:solidFill>
              <a:srgbClr val="3656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01168"/>
            <a:ext cx="502920" cy="0"/>
          </a:xfrm>
          <a:prstGeom prst="line">
            <a:avLst/>
          </a:prstGeom>
          <a:noFill/>
          <a:ln w="25400">
            <a:solidFill>
              <a:srgbClr val="365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347472"/>
            <a:ext cx="1828800" cy="0"/>
          </a:xfrm>
          <a:prstGeom prst="line">
            <a:avLst/>
          </a:prstGeom>
          <a:noFill/>
          <a:ln w="12700">
            <a:solidFill>
              <a:srgbClr val="3656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92840" y="164592"/>
            <a:ext cx="47548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896112"/>
            <a:ext cx="5303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Layers &amp; Flood Workflow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1225296"/>
            <a:ext cx="8778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系统把多源遥感与地理数据组织成图层，并在 workflow 中自动完成洪水分析处理。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783080"/>
            <a:ext cx="2331720" cy="3520440"/>
          </a:xfrm>
          <a:prstGeom prst="roundRect">
            <a:avLst>
              <a:gd name="adj" fmla="val 3137"/>
            </a:avLst>
          </a:prstGeom>
          <a:solidFill>
            <a:srgbClr val="F8FAF8"/>
          </a:solidFill>
          <a:ln w="15240">
            <a:solidFill>
              <a:srgbClr val="3656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1901952"/>
            <a:ext cx="20025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Manager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2231136"/>
            <a:ext cx="2002536" cy="2953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Raster Layers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Population Density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LCLU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Soil Texture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Healthcare Access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Imagery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Optical Imagery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SAR Imagery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11880" y="2084832"/>
            <a:ext cx="1572768" cy="1060704"/>
          </a:xfrm>
          <a:prstGeom prst="roundRect">
            <a:avLst>
              <a:gd name="adj" fmla="val 6897"/>
            </a:avLst>
          </a:prstGeom>
          <a:solidFill>
            <a:srgbClr val="F6F8FF"/>
          </a:solidFill>
          <a:ln w="15240">
            <a:solidFill>
              <a:srgbClr val="4169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6472" y="2203704"/>
            <a:ext cx="124358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1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 Parameters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76472" y="2532888"/>
            <a:ext cx="124358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事件名称 / 地点 / 日期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02936" y="2615184"/>
            <a:ext cx="256032" cy="0"/>
          </a:xfrm>
          <a:prstGeom prst="line">
            <a:avLst/>
          </a:prstGeom>
          <a:noFill/>
          <a:ln w="17780">
            <a:solidFill>
              <a:srgbClr val="D7DD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76672" y="2514600"/>
            <a:ext cx="201168" cy="210312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13832" y="2084832"/>
            <a:ext cx="1572768" cy="1060704"/>
          </a:xfrm>
          <a:prstGeom prst="roundRect">
            <a:avLst>
              <a:gd name="adj" fmla="val 6897"/>
            </a:avLst>
          </a:prstGeom>
          <a:solidFill>
            <a:srgbClr val="F6F8FF"/>
          </a:solidFill>
          <a:ln w="15240">
            <a:solidFill>
              <a:srgbClr val="4169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78424" y="2203704"/>
            <a:ext cx="124358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1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GEE Data Access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78424" y="2532888"/>
            <a:ext cx="124358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Sentinel / JRC / 辅助数据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04888" y="2615184"/>
            <a:ext cx="256032" cy="0"/>
          </a:xfrm>
          <a:prstGeom prst="line">
            <a:avLst/>
          </a:prstGeom>
          <a:noFill/>
          <a:ln w="17780">
            <a:solidFill>
              <a:srgbClr val="D7DD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8624" y="2514600"/>
            <a:ext cx="201168" cy="210312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15784" y="2084832"/>
            <a:ext cx="1572768" cy="1060704"/>
          </a:xfrm>
          <a:prstGeom prst="roundRect">
            <a:avLst>
              <a:gd name="adj" fmla="val 6897"/>
            </a:avLst>
          </a:prstGeom>
          <a:solidFill>
            <a:srgbClr val="F7FAF8"/>
          </a:solidFill>
          <a:ln w="15240">
            <a:solidFill>
              <a:srgbClr val="5775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0376" y="2203704"/>
            <a:ext cx="124358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7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Flood Extraction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80376" y="2532888"/>
            <a:ext cx="124358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水体变化与淹没范围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06840" y="2615184"/>
            <a:ext cx="256032" cy="0"/>
          </a:xfrm>
          <a:prstGeom prst="line">
            <a:avLst/>
          </a:prstGeom>
          <a:noFill/>
          <a:ln w="17780">
            <a:solidFill>
              <a:srgbClr val="D7DD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0576" y="2514600"/>
            <a:ext cx="201168" cy="210312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17736" y="2084832"/>
            <a:ext cx="1572768" cy="1060704"/>
          </a:xfrm>
          <a:prstGeom prst="roundRect">
            <a:avLst>
              <a:gd name="adj" fmla="val 6897"/>
            </a:avLst>
          </a:prstGeom>
          <a:solidFill>
            <a:srgbClr val="F7FAF8"/>
          </a:solidFill>
          <a:ln w="15240">
            <a:solidFill>
              <a:srgbClr val="5775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82328" y="2203704"/>
            <a:ext cx="124358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7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Generation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82328" y="2532888"/>
            <a:ext cx="124358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地图图层与图例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49040" y="4160520"/>
            <a:ext cx="7269480" cy="960120"/>
          </a:xfrm>
          <a:prstGeom prst="roundRect">
            <a:avLst>
              <a:gd name="adj" fmla="val 7619"/>
            </a:avLst>
          </a:prstGeom>
          <a:solidFill>
            <a:srgbClr val="F8F7F3"/>
          </a:solidFill>
          <a:ln w="10160">
            <a:solidFill>
              <a:srgbClr val="E3DD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4352544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this design matters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用户通过图层理解数据来源，通过 workflow 获得可复现的洪水淹没提取与地图结果。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547104"/>
            <a:ext cx="11265408" cy="0"/>
          </a:xfrm>
          <a:prstGeom prst="line">
            <a:avLst/>
          </a:prstGeom>
          <a:noFill/>
          <a:ln w="7620">
            <a:solidFill>
              <a:srgbClr val="E2E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83680"/>
            <a:ext cx="3840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SATGPT Pro  |  System Design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" y="219456"/>
            <a:ext cx="155448" cy="457200"/>
          </a:xfrm>
          <a:prstGeom prst="rect">
            <a:avLst/>
          </a:prstGeom>
          <a:solidFill>
            <a:srgbClr val="36563F"/>
          </a:solidFill>
          <a:ln w="12700">
            <a:solidFill>
              <a:srgbClr val="3656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73736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41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8912" y="713232"/>
            <a:ext cx="8476488" cy="0"/>
          </a:xfrm>
          <a:prstGeom prst="line">
            <a:avLst/>
          </a:prstGeom>
          <a:noFill/>
          <a:ln w="10160">
            <a:solidFill>
              <a:srgbClr val="5775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201168"/>
            <a:ext cx="777240" cy="0"/>
          </a:xfrm>
          <a:prstGeom prst="line">
            <a:avLst/>
          </a:prstGeom>
          <a:noFill/>
          <a:ln w="25400">
            <a:solidFill>
              <a:srgbClr val="3656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01168"/>
            <a:ext cx="502920" cy="0"/>
          </a:xfrm>
          <a:prstGeom prst="line">
            <a:avLst/>
          </a:prstGeom>
          <a:noFill/>
          <a:ln w="25400">
            <a:solidFill>
              <a:srgbClr val="365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347472"/>
            <a:ext cx="1828800" cy="0"/>
          </a:xfrm>
          <a:prstGeom prst="line">
            <a:avLst/>
          </a:prstGeom>
          <a:noFill/>
          <a:ln w="12700">
            <a:solidFill>
              <a:srgbClr val="3656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92840" y="164592"/>
            <a:ext cx="47548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896112"/>
            <a:ext cx="6400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 Presentation &amp; Decision Support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1225296"/>
            <a:ext cx="7772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分析结果同时面向地图理解、文字解释、来源追踪和后续交互。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18288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240">
            <a:solidFill>
              <a:srgbClr val="4169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947672"/>
            <a:ext cx="18196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1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Layers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276856"/>
            <a:ext cx="1819656" cy="1399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洪水范围、基础水体、土地覆盖等空间结果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97280" y="2953512"/>
            <a:ext cx="1600200" cy="384048"/>
          </a:xfrm>
          <a:prstGeom prst="rect">
            <a:avLst/>
          </a:prstGeom>
          <a:solidFill>
            <a:srgbClr val="4169D8">
              <a:alpha val="90000"/>
            </a:srgbClr>
          </a:solidFill>
          <a:ln w="12700">
            <a:solidFill>
              <a:srgbClr val="4169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8288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240">
            <a:solidFill>
              <a:srgbClr val="3656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1947672"/>
            <a:ext cx="18196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 Report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85032" y="2276856"/>
            <a:ext cx="1819656" cy="1399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事件背景、影响、监测方案和关键日期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94760" y="2953512"/>
            <a:ext cx="1600200" cy="384048"/>
          </a:xfrm>
          <a:prstGeom prst="rect">
            <a:avLst/>
          </a:prstGeom>
          <a:solidFill>
            <a:srgbClr val="36563F">
              <a:alpha val="90000"/>
            </a:srgbClr>
          </a:solidFill>
          <a:ln w="12700">
            <a:solidFill>
              <a:srgbClr val="3656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8288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240">
            <a:solidFill>
              <a:srgbClr val="6A55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947672"/>
            <a:ext cx="18196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A5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Sources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2276856"/>
            <a:ext cx="1819656" cy="1399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默认折叠的信息来源，支持可信追溯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2953512"/>
            <a:ext cx="1600200" cy="384048"/>
          </a:xfrm>
          <a:prstGeom prst="rect">
            <a:avLst/>
          </a:prstGeom>
          <a:solidFill>
            <a:srgbClr val="6A55B8">
              <a:alpha val="90000"/>
            </a:srgbClr>
          </a:solidFill>
          <a:ln w="12700">
            <a:solidFill>
              <a:srgbClr val="6A55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18288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240">
            <a:solidFill>
              <a:srgbClr val="5775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79992" y="1947672"/>
            <a:ext cx="18196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7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Interactive 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79992" y="2276856"/>
            <a:ext cx="1819656" cy="1399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继续提问、切换图层、确认或修正结果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89720" y="2953512"/>
            <a:ext cx="1600200" cy="384048"/>
          </a:xfrm>
          <a:prstGeom prst="rect">
            <a:avLst/>
          </a:prstGeom>
          <a:solidFill>
            <a:srgbClr val="57755F">
              <a:alpha val="90000"/>
            </a:srgbClr>
          </a:solidFill>
          <a:ln w="12700">
            <a:solidFill>
              <a:srgbClr val="5775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66344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4F8F5"/>
          </a:solidFill>
          <a:ln w="10160">
            <a:solidFill>
              <a:srgbClr val="D7E2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07008" y="4882896"/>
            <a:ext cx="1920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5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Usage Value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17520" y="4846320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将复杂的洪水事件信息、遥感数据处理和空间可视化整合为一个可交互的分析说明书。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11265408" cy="0"/>
          </a:xfrm>
          <a:prstGeom prst="line">
            <a:avLst/>
          </a:prstGeom>
          <a:noFill/>
          <a:ln w="7620">
            <a:solidFill>
              <a:srgbClr val="E2E6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83680"/>
            <a:ext cx="3840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SATGPT Pro  |  System Design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</dc:title>
  <dc:subject>SatGPT System Design Chapter</dc:subject>
  <dc:creator>SatGPT</dc:creator>
  <cp:lastModifiedBy>SatGPT</cp:lastModifiedBy>
  <cp:revision>1</cp:revision>
  <dcterms:created xsi:type="dcterms:W3CDTF">2026-05-04T18:55:00Z</dcterms:created>
  <dcterms:modified xsi:type="dcterms:W3CDTF">2026-05-04T18:55:00Z</dcterms:modified>
</cp:coreProperties>
</file>